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2004 Toyota Prius traction motor: verified FEA to drive, thermal and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6571360" cy="49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Open-source chain in PINNeAPPle (pinneapple_simulation.electromagnetics.machines):</a:t>
            </a:r>
          </a:p>
          <a:p>
            <a:pPr>
              <a:spcAft>
                <a:spcPts val="400"/>
              </a:spcAft>
              <a:defRPr sz="1400"/>
            </a:pPr>
            <a:r>
              <a:t>2-D nonlinear FEA -&gt; second-code cross-check -&gt; drive (MTPA, flux weakening, WLTC) -&gt; end effects -&gt; thermal and demagnetisation -&gt; skew and tolerances -&gt; FEA + GP + NSGA-II design -&gt; exchange formats</a:t>
            </a:r>
          </a:p>
          <a:p>
            <a:pPr>
              <a:spcAft>
                <a:spcPts val="400"/>
              </a:spcAft>
              <a:defRPr sz="1400"/>
            </a:pPr>
            <a:r>
              <a:t>Every number in these slides is a measured output of examples 10 to 17 (results/*.json), regenerated by this script.</a:t>
            </a:r>
          </a:p>
          <a:p>
            <a:pPr>
              <a:spcAft>
                <a:spcPts val="400"/>
              </a:spcAft>
              <a:defRPr sz="1400"/>
            </a:pPr>
            <a:r>
              <a:t>Geometry and materials: pyleecan's Toyota_Prius.json (48 slots, 8 poles, V magnets, M400-50A).</a:t>
            </a:r>
          </a:p>
        </p:txBody>
      </p:sp>
      <p:pic>
        <p:nvPicPr>
          <p:cNvPr id="4" name="Picture 3" descr="10_pmsm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60" y="1000000"/>
            <a:ext cx="5120640" cy="433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a model study from public data; no test-bench measurement of this motor was available.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2-D FEA,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Nonlinear A_z FEM, conforming mirrored meshes, Arkkio torque: 29936 elements.</a:t>
            </a:r>
          </a:p>
          <a:p>
            <a:pPr>
              <a:spcAft>
                <a:spcPts val="400"/>
              </a:spcAft>
              <a:defRPr sz="1400"/>
            </a:pPr>
            <a:r>
              <a:t>Verification cases against closed forms: 6 of 6 pass (magnetised ring: second order, as P1 should).</a:t>
            </a:r>
          </a:p>
          <a:p>
            <a:pPr>
              <a:spcAft>
                <a:spcPts val="400"/>
              </a:spcAft>
              <a:defRPr sz="1400"/>
            </a:pPr>
            <a:r>
              <a:t>Torque vs current angle at 250 A against Yang et al. 2013: peak 345.6 vs 353 N m, rms difference 13.3 N m (their model and the pyleecan geometry differ: centre post, steel data).</a:t>
            </a:r>
          </a:p>
          <a:p>
            <a:pPr>
              <a:spcAft>
                <a:spcPts val="400"/>
              </a:spcAft>
              <a:defRPr sz="1400"/>
            </a:pPr>
            <a:r>
              <a:t>Cogging 1.38 N m pk-pk; back-EMF fundamental 87.6 V peak at 1000 rpm.</a:t>
            </a:r>
          </a:p>
        </p:txBody>
      </p:sp>
      <p:pic>
        <p:nvPicPr>
          <p:cNvPr id="4" name="Picture 3" descr="10_pmsm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670000"/>
            <a:ext cx="11392000" cy="2392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2-D only; P1 elements; iron loss from B waveforms without minor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Second code: gmsh + GetDP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Same geometry and materials, GetDP's own mesh, Newton solver and torque: torque vs angle within 1.09 N m.</a:t>
            </a:r>
          </a:p>
          <a:p>
            <a:pPr>
              <a:spcAft>
                <a:spcPts val="400"/>
              </a:spcAft>
              <a:defRPr sz="1400"/>
            </a:pPr>
            <a:r>
              <a:t>Back-EMF fundamental 87.60 vs 87.64 V; L_d 1.370 vs 1.385 mH; L_q 1.856 vs 1.864 mH.</a:t>
            </a:r>
          </a:p>
          <a:p>
            <a:pPr>
              <a:spcAft>
                <a:spcPts val="400"/>
              </a:spcAft>
              <a:defRPr sz="1400"/>
            </a:pPr>
            <a:r>
              <a:t>Cogging does not agree: 1.34 vs 1.00 N m at 1920 gap nodes, both converged; with linear iron 1.223 vs 1.211 N m -&gt; the difference is in the saturated bridges.</a:t>
            </a:r>
          </a:p>
        </p:txBody>
      </p:sp>
      <p:pic>
        <p:nvPicPr>
          <p:cNvPr id="4" name="Picture 3" descr="14_prius_getdp_cross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340000"/>
            <a:ext cx="11392000" cy="306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cogging uncertain by about 25 % between two codes; FEMM, pyleecan, Elmer not run (inputs written).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Drive: MTPA, flux weakening, WLTC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FEA flux map (saturation, cross-saturation), 250 A, 500 V DC with SVPWM: 343.6 N m at low speed, 104.4 N m at 6000 rpm, 77.7 kW peak.</a:t>
            </a:r>
          </a:p>
          <a:p>
            <a:pPr>
              <a:spcAft>
                <a:spcPts val="400"/>
              </a:spcAft>
              <a:defRPr sz="1400"/>
            </a:pPr>
            <a:r>
              <a:t>Peak efficiency 96.2 % at 2750 rpm, 70.7 N m (copper + iron + magnet loss).</a:t>
            </a:r>
          </a:p>
          <a:p>
            <a:pPr>
              <a:spcAft>
                <a:spcPts val="400"/>
              </a:spcAft>
              <a:defRPr sz="1400"/>
            </a:pPr>
            <a:r>
              <a:t>WLTC class 3b, illustrative compact car: 102.1 Wh/km at the battery (drive losses only).</a:t>
            </a:r>
          </a:p>
          <a:p>
            <a:pPr>
              <a:spcAft>
                <a:spcPts val="400"/>
              </a:spcAft>
              <a:defRPr sz="1400"/>
            </a:pPr>
            <a:r>
              <a:t>Optimiser checked against the closed forms of a linear machine (1e-14) and energy bookkeeping.</a:t>
            </a:r>
          </a:p>
        </p:txBody>
      </p:sp>
      <p:pic>
        <p:nvPicPr>
          <p:cNvPr id="4" name="Picture 3" descr="11_prius_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000" y="2670000"/>
            <a:ext cx="8470000" cy="338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steady state; no inverter, mechanical or battery losses; the car is not a measured Prius.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End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End windings (Neumann, thin filaments, verified against Rosa and Maxwell): L_end 135.2 uH in air, 115.3 uH with the iron face.</a:t>
            </a:r>
          </a:p>
          <a:p>
            <a:pPr>
              <a:spcAft>
                <a:spcPts val="400"/>
              </a:spcAft>
              <a:defRPr sz="1400"/>
            </a:pPr>
            <a:r>
              <a:t>Effect on the envelope at 3000 rpm: 239.3 -&gt; 213.3 N m.</a:t>
            </a:r>
          </a:p>
          <a:p>
            <a:pPr>
              <a:spcAft>
                <a:spcPts val="400"/>
              </a:spcAft>
              <a:defRPr sz="1400"/>
            </a:pPr>
            <a:r>
              <a:t>Magnet end leakage, 3-D GetDP model of half the stack: flux ratio 0.9345 -&gt; 0.9463 -&gt; 0.9482 on three meshes.</a:t>
            </a:r>
          </a:p>
          <a:p>
            <a:pPr>
              <a:spcAft>
                <a:spcPts val="400"/>
              </a:spcAft>
              <a:defRPr sz="1400"/>
            </a:pPr>
            <a:r>
              <a:t>Corrected 2-D model: MTPA torque -2.6 %, back-EMF -5.4 %.</a:t>
            </a:r>
          </a:p>
        </p:txBody>
      </p:sp>
      <p:pic>
        <p:nvPicPr>
          <p:cNvPr id="4" name="Picture 3" descr="16_prius_end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670000"/>
            <a:ext cx="11392000" cy="306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corrections, not a coupled 3-D solution at load; no measured end-winding inductance to compare.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Magnet temperature and thermal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Magnets 20 -&gt; 150 degC (Br -0.1 %/K): torque at 250 A 345.6 -&gt; 322.6 N m, back-EMF 87.6 -&gt; 75.4 V.</a:t>
            </a:r>
          </a:p>
          <a:p>
            <a:pPr>
              <a:spcAft>
                <a:spcPts val="400"/>
              </a:spcAft>
              <a:defRPr sz="1400"/>
            </a:pPr>
            <a:r>
              <a:t>4 x WLTC from the drive losses: teeth 82.5, winding 80.3, magnets 78.5 degC.</a:t>
            </a:r>
          </a:p>
          <a:p>
            <a:pPr>
              <a:spcAft>
                <a:spcPts val="400"/>
              </a:spcAft>
              <a:defRPr sz="1400"/>
            </a:pPr>
            <a:r>
              <a:t>Peak load from that state: hotter winding node at 180 degC after 237 s; magnets settle at 127 degC.</a:t>
            </a:r>
          </a:p>
        </p:txBody>
      </p:sp>
      <p:pic>
        <p:nvPicPr>
          <p:cNvPr id="4" name="Picture 3" descr="13_prius_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340000"/>
            <a:ext cx="11392000" cy="28815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seven-node network with illustrative thermal data (not fitted to a Prius); one temperature per node.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Demagnetisation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4986399" cy="49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Reverse field per magnet element against Hcj(T) of the grade letters, magnets at 127 degC.</a:t>
            </a:r>
          </a:p>
          <a:p>
            <a:pPr>
              <a:spcAft>
                <a:spcPts val="400"/>
              </a:spcAft>
              <a:defRPr sz="1400"/>
            </a:pPr>
            <a:r>
              <a:t>Full d-axis current (-250 A): demagnetised area N 99.4 %, M 93.3 %, H 18.6 %, SH 2.4 %, UH 0.0 %.</a:t>
            </a:r>
          </a:p>
          <a:p>
            <a:pPr>
              <a:spcAft>
                <a:spcPts val="400"/>
              </a:spcAft>
              <a:defRPr sz="1400"/>
            </a:pPr>
            <a:r>
              <a:t>Short-circuit estimate: N 31.8 %, M 3.2 %, H 0.0 %, SH 0.0 %, UH 0.0 %.</a:t>
            </a:r>
          </a:p>
          <a:p>
            <a:pPr>
              <a:spcAft>
                <a:spcPts val="400"/>
              </a:spcAft>
              <a:defRPr sz="1400"/>
            </a:pPr>
            <a:r>
              <a:t>Mesh study inside the magnets (4 levels): grade H at -250 A 18.6 to 19.4 % -&gt; area fractions converge; the worst element does not (sharp corners).</a:t>
            </a:r>
          </a:p>
        </p:txBody>
      </p:sp>
      <p:pic>
        <p:nvPicPr>
          <p:cNvPr id="4" name="Picture 3" descr="13_prius_de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99" y="1000000"/>
            <a:ext cx="6069600" cy="50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Hcj coefficient assumed (-0.55 %/K); static knee test; the Prius magnet grade was not found in accessible public sources, so the rows compare candidate grades.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Step skew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Multi-slice FEA. Straight rotor: cogging 1.35 N m, ripple 22.9 %, torque 345.6 N m.</a:t>
            </a:r>
          </a:p>
          <a:p>
            <a:pPr>
              <a:spcAft>
                <a:spcPts val="400"/>
              </a:spcAft>
              <a:defRPr sz="1400"/>
            </a:pPr>
            <a:r>
              <a:t>2 steps over 3.75 deg: cogging 0.62 N m, ripple 8.8 %, torque 338.8 N m.</a:t>
            </a:r>
          </a:p>
          <a:p>
            <a:pPr>
              <a:spcAft>
                <a:spcPts val="400"/>
              </a:spcAft>
              <a:defRPr sz="1400"/>
            </a:pPr>
            <a:r>
              <a:t>3 steps over 5.625 deg: cogging 0.42 N m, ripple 7.9 %, torque 335.3 N m.</a:t>
            </a:r>
          </a:p>
          <a:p>
            <a:pPr>
              <a:spcAft>
                <a:spcPts val="400"/>
              </a:spcAft>
              <a:defRPr sz="1400"/>
            </a:pPr>
            <a:r>
              <a:t>Back-EMF fundamental x0.96593 vs closed-form skew factor 0.96593; THD 9.3 -&gt; 7.2 %.</a:t>
            </a:r>
          </a:p>
        </p:txBody>
      </p:sp>
      <p:pic>
        <p:nvPicPr>
          <p:cNvPr id="4" name="Picture 3" descr="15_prius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670000"/>
            <a:ext cx="11392000" cy="306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multi-slice: no inter-segment axial flux, no end effects.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Manufacturing tolerances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200 Monte-Carlo samples (JCGM 101), one nonlinear FEA each: remanence, magnet thickness and width, air gap.</a:t>
            </a:r>
          </a:p>
          <a:p>
            <a:pPr>
              <a:spcAft>
                <a:spcPts val="400"/>
              </a:spcAft>
              <a:defRPr sz="1400"/>
            </a:pPr>
            <a:r>
              <a:t>Torque 343.3 +- 1.96 N m; ripple 20.2 +- 0.47 %.</a:t>
            </a:r>
          </a:p>
          <a:p>
            <a:pPr>
              <a:spcAft>
                <a:spcPts val="400"/>
              </a:spcAft>
              <a:defRPr sz="1400"/>
            </a:pPr>
            <a:r>
              <a:t>Largest effects: remanence on torque (SRC 0.82), air gap on ripple (SRC -0.95); linear fits R^2 0.999 / 0.983.</a:t>
            </a:r>
          </a:p>
          <a:p>
            <a:pPr>
              <a:spcAft>
                <a:spcPts val="400"/>
              </a:spcAft>
              <a:defRPr sz="1400"/>
            </a:pPr>
            <a:r>
              <a:t>Yield against the stated specification 1.000 (Wilson 95 %: 0.981 to 1.000).</a:t>
            </a:r>
          </a:p>
        </p:txBody>
      </p:sp>
      <p:pic>
        <p:nvPicPr>
          <p:cNvPr id="4" name="Picture 3" descr="17_prius_toler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670000"/>
            <a:ext cx="11392000" cy="313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the tolerance sigmas are assumptions, not measured spreads.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Rotor design: FEA + Gaussian process + NSGA-II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Five rotor variables, maximise torque, minimise magnet mass, ripple &lt;= 30 %; every front design re-evaluated by a finer FEA.</a:t>
            </a:r>
          </a:p>
          <a:p>
            <a:pPr>
              <a:spcAft>
                <a:spcPts val="400"/>
              </a:spcAft>
              <a:defRPr sz="1400"/>
            </a:pPr>
            <a:r>
              <a:t>FEA calls to equal hypervolume, hybrid vs NSGA-II on the FEA: seed 0: 53 vs 711 (92.5 % saved); seed 1: 52 vs 601 (91.3 % saved); seed 2: 51 vs 605 (91.6 % saved).</a:t>
            </a:r>
          </a:p>
          <a:p>
            <a:pPr>
              <a:spcAft>
                <a:spcPts val="400"/>
              </a:spcAft>
              <a:defRPr sz="1400"/>
            </a:pPr>
            <a:r>
              <a:t>Finer FEA: all front designs feasible, torque within 1.1 %, ripple up to 30 % higher (6 angles under-sample it).</a:t>
            </a:r>
          </a:p>
          <a:p>
            <a:pPr>
              <a:spcAft>
                <a:spcPts val="400"/>
              </a:spcAft>
              <a:defRPr sz="1400"/>
            </a:pPr>
            <a:r>
              <a:t>Designs beating the Prius rotor sit at the 1.0 mm bridge bound.</a:t>
            </a:r>
          </a:p>
        </p:txBody>
      </p:sp>
      <p:pic>
        <p:nvPicPr>
          <p:cNvPr id="4" name="Picture 3" descr="12_prius_rotor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00" y="2670000"/>
            <a:ext cx="9239999" cy="338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no bridge stress, demagnetisation or speed constraints: shows the method and the FEA-call saving, not a better rotor.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113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Exchange formats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11392000" cy="49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In: pyleecan machine files (the real Toyota_Prius.json reads to exactly the model). Out: pyleecan JSON, FEMM Lua, Elmer case, gmsh/GetDP, MATLAB .mat, DXF, VTK, CSV/Parquet/HDF5 data contracts.</a:t>
            </a:r>
          </a:p>
          <a:p>
            <a:pPr>
              <a:spcAft>
                <a:spcPts val="400"/>
              </a:spcAft>
              <a:defRPr sz="1400"/>
            </a:pPr>
            <a:r>
              <a:t>What is verified: closed forms (FEM, filaments, thermal, skew factor, drive), a second FEA code, a published torque curve.</a:t>
            </a:r>
          </a:p>
          <a:p>
            <a:pPr>
              <a:spcAft>
                <a:spcPts val="400"/>
              </a:spcAft>
              <a:defRPr sz="1400"/>
            </a:pPr>
            <a:r>
              <a:t>Not verified: any measurement of this motor; FEMM/pyleecan/Elmer runs; cogging to better than about 25 %; thermal data; magnet grade.</a:t>
            </a:r>
          </a:p>
          <a:p>
            <a:pPr>
              <a:spcAft>
                <a:spcPts val="400"/>
              </a:spcAft>
              <a:defRPr sz="1400"/>
            </a:pPr>
            <a:r>
              <a:t>Next: test-bench data (torque, EMF, temperatures) to calibrate thermal and loss models; a 3-D coupled end-region solution at load; bridge stress as a design constraint.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6108000"/>
            <a:ext cx="113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Limits: see the Limits section of docs/guides/electromagnetics.md.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